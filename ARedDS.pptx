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  <p:sldId id="2147470498" r:id="rId11"/>
    <p:sldId id="2147470499" r:id="rId12"/>
    <p:sldId id="2147470500" r:id="rId13"/>
    <p:sldId id="2147470501" r:id="rId14"/>
    <p:sldId id="2147470502" r:id="rId15"/>
    <p:sldId id="2147470503" r:id="rId16"/>
    <p:sldId id="21474705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BBDA"/>
    <a:srgbClr val="25B9ED"/>
    <a:srgbClr val="FFFFFF"/>
    <a:srgbClr val="47BDAE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+mn-lt"/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34616" y="163154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IN" sz="3600" b="1" dirty="0" err="1">
                <a:solidFill>
                  <a:srgbClr val="FF0000"/>
                </a:solidFill>
              </a:rPr>
              <a:t>ARedDS</a:t>
            </a:r>
            <a:r>
              <a:rPr lang="en-IN" sz="3600" b="1" dirty="0">
                <a:solidFill>
                  <a:srgbClr val="FF0000"/>
                </a:solidFill>
              </a:rPr>
              <a:t> - </a:t>
            </a:r>
            <a:r>
              <a:rPr lang="en-GB" sz="3600" b="1" dirty="0">
                <a:solidFill>
                  <a:srgbClr val="FF0000"/>
                </a:solidFill>
              </a:rPr>
              <a:t>Autonomous Real Estate Due Diligence System with RERA Law Assistant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Presented By 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DHANUSHKIRAN 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REC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645334"/>
              </p:ext>
            </p:extLst>
          </p:nvPr>
        </p:nvGraphicFramePr>
        <p:xfrm>
          <a:off x="-47290" y="5636302"/>
          <a:ext cx="12239216" cy="31297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392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353" y="5948364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1091558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Buying a property involves checking many documents. </a:t>
            </a:r>
          </a:p>
          <a:p>
            <a:pPr marL="0" lvl="0" indent="0">
              <a:buNone/>
            </a:pPr>
            <a:endParaRPr lang="en-IN" sz="2400" b="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Checking these documents manually can be time-consuming and difficult. </a:t>
            </a:r>
          </a:p>
          <a:p>
            <a:pPr lvl="0"/>
            <a:endParaRPr lang="en-IN" sz="2400" b="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Important details and possible risks may be missed during manual checking. </a:t>
            </a:r>
          </a:p>
          <a:p>
            <a:pPr marL="0" lvl="0" indent="0">
              <a:buNone/>
            </a:pPr>
            <a:endParaRPr lang="en-IN" sz="2400" b="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b="0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ARedDS</a:t>
            </a:r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uses AI to check property documents, find risks, and provide RERA</a:t>
            </a:r>
          </a:p>
          <a:p>
            <a:pPr marL="0" lvl="0" indent="0">
              <a:buNone/>
            </a:pPr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based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912125" y="57036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 dirty="0" err="1">
                <a:solidFill>
                  <a:srgbClr val="FF0000"/>
                </a:solidFill>
              </a:rPr>
              <a:t>ARedDS</a:t>
            </a:r>
            <a:r>
              <a:rPr lang="en-IN" b="1" dirty="0">
                <a:solidFill>
                  <a:srgbClr val="FF0000"/>
                </a:solidFill>
              </a:rPr>
              <a:t> - </a:t>
            </a:r>
            <a:r>
              <a:rPr lang="en-GB" b="1" dirty="0">
                <a:solidFill>
                  <a:srgbClr val="FF0000"/>
                </a:solidFill>
              </a:rPr>
              <a:t>Autonomous Real Estate Due Diligence System with RERA Law Assistant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CCFA-EF04-B2CC-C841-FEA7F8E8024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1E1CD245-7E67-BEF3-30D0-C2048685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</a:t>
            </a:r>
            <a:r>
              <a:rPr lang="en-IN" sz="2400" b="0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analyze</a:t>
            </a:r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property documents using AI. </a:t>
            </a:r>
          </a:p>
          <a:p>
            <a:pPr lvl="0"/>
            <a:endParaRPr lang="en-IN" sz="2400" b="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extract important information and clauses from the documents. </a:t>
            </a:r>
          </a:p>
          <a:p>
            <a:pPr marL="0" lvl="0" indent="0">
              <a:buNone/>
            </a:pPr>
            <a:endParaRPr lang="en-IN" sz="2400" b="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identify missing details, inconsistencies, and potential risks. </a:t>
            </a:r>
          </a:p>
          <a:p>
            <a:pPr marL="0" lvl="0" indent="0">
              <a:buNone/>
            </a:pPr>
            <a:endParaRPr lang="en-IN" sz="2400" b="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provide RERA-based explanations and generate a due-diligence report.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C4E5AD-F938-3DF0-87EB-B33473518C21}"/>
              </a:ext>
            </a:extLst>
          </p:cNvPr>
          <p:cNvSpPr txBox="1"/>
          <p:nvPr/>
        </p:nvSpPr>
        <p:spPr>
          <a:xfrm>
            <a:off x="3912125" y="57036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 dirty="0" err="1">
                <a:solidFill>
                  <a:srgbClr val="FF0000"/>
                </a:solidFill>
              </a:rPr>
              <a:t>ARedDS</a:t>
            </a:r>
            <a:r>
              <a:rPr lang="en-IN" b="1" dirty="0">
                <a:solidFill>
                  <a:srgbClr val="FF0000"/>
                </a:solidFill>
              </a:rPr>
              <a:t> - </a:t>
            </a:r>
            <a:r>
              <a:rPr lang="en-GB" b="1" dirty="0">
                <a:solidFill>
                  <a:srgbClr val="FF0000"/>
                </a:solidFill>
              </a:rPr>
              <a:t>Autonomous Real Estate Due Diligence System with RERA Law Assistant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49017-0E91-F5C7-E849-0D494C0313E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72D1A61C-8BDB-B51A-40AE-E9C0B25C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</a:t>
            </a:r>
            <a:r>
              <a:rPr lang="en-IN" sz="2400" b="0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analyze</a:t>
            </a:r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different types of real-estate documents. </a:t>
            </a:r>
          </a:p>
          <a:p>
            <a:pPr lvl="0"/>
            <a:endParaRPr lang="en-IN" sz="2400" b="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extract important property and agreement details. </a:t>
            </a:r>
          </a:p>
          <a:p>
            <a:pPr lvl="0"/>
            <a:endParaRPr lang="en-IN" sz="2400" b="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identify clauses, missing information, inconsistencies, and risks. </a:t>
            </a:r>
          </a:p>
          <a:p>
            <a:pPr marL="0" lvl="0" indent="0">
              <a:buNone/>
            </a:pPr>
            <a:endParaRPr lang="en-IN" sz="2400" b="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provide RERA-based assistance and generate a clear due-diligence report.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EB008A-04BB-C5A3-794B-0DC2B0523E0F}"/>
              </a:ext>
            </a:extLst>
          </p:cNvPr>
          <p:cNvSpPr txBox="1"/>
          <p:nvPr/>
        </p:nvSpPr>
        <p:spPr>
          <a:xfrm>
            <a:off x="4081808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 dirty="0" err="1">
                <a:solidFill>
                  <a:srgbClr val="FF0000"/>
                </a:solidFill>
              </a:rPr>
              <a:t>ARedDS</a:t>
            </a:r>
            <a:r>
              <a:rPr lang="en-IN" b="1" dirty="0">
                <a:solidFill>
                  <a:srgbClr val="FF0000"/>
                </a:solidFill>
              </a:rPr>
              <a:t> - </a:t>
            </a:r>
            <a:r>
              <a:rPr lang="en-GB" b="1" dirty="0">
                <a:solidFill>
                  <a:srgbClr val="FF0000"/>
                </a:solidFill>
              </a:rPr>
              <a:t>Autonomous Real Estate Due Diligence System with RERA Law Assistant</a:t>
            </a:r>
          </a:p>
        </p:txBody>
      </p:sp>
      <p:sp>
        <p:nvSpPr>
          <p:cNvPr id="7" name="AutoShape 2" descr="LTIMindtree Logo">
            <a:extLst>
              <a:ext uri="{FF2B5EF4-FFF2-40B4-BE49-F238E27FC236}">
                <a16:creationId xmlns:a16="http://schemas.microsoft.com/office/drawing/2014/main" id="{23863276-72E5-30AB-392D-D8D21A2E7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632E79-658D-9E93-B5C2-C0CA952E704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30" name="Picture 6" descr="LTM Limited (Formerly LTIMindtree Limited)">
            <a:extLst>
              <a:ext uri="{FF2B5EF4-FFF2-40B4-BE49-F238E27FC236}">
                <a16:creationId xmlns:a16="http://schemas.microsoft.com/office/drawing/2014/main" id="{71A73E9E-CECD-2252-34B1-1B287A4B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216534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D11724-79D4-0638-9C05-77425B9500D4}"/>
              </a:ext>
            </a:extLst>
          </p:cNvPr>
          <p:cNvSpPr txBox="1"/>
          <p:nvPr/>
        </p:nvSpPr>
        <p:spPr>
          <a:xfrm>
            <a:off x="4138369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 dirty="0" err="1">
                <a:solidFill>
                  <a:srgbClr val="FF0000"/>
                </a:solidFill>
              </a:rPr>
              <a:t>ARedDS</a:t>
            </a:r>
            <a:r>
              <a:rPr lang="en-IN" b="1" dirty="0">
                <a:solidFill>
                  <a:srgbClr val="FF0000"/>
                </a:solidFill>
              </a:rPr>
              <a:t> - </a:t>
            </a:r>
            <a:r>
              <a:rPr lang="en-GB" b="1" dirty="0">
                <a:solidFill>
                  <a:srgbClr val="FF0000"/>
                </a:solidFill>
              </a:rPr>
              <a:t>Autonomous Real Estate Due Diligence System with RERA Law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410BF-B4C4-99E4-35F5-40F8DD991A55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F7670379-0AD4-EBD9-8789-3B3BAF88A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98BF10-021E-1B7D-3EA5-AA7C60DCB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616340"/>
              </p:ext>
            </p:extLst>
          </p:nvPr>
        </p:nvGraphicFramePr>
        <p:xfrm>
          <a:off x="255996" y="1532853"/>
          <a:ext cx="11802256" cy="4499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878">
                  <a:extLst>
                    <a:ext uri="{9D8B030D-6E8A-4147-A177-3AD203B41FA5}">
                      <a16:colId xmlns:a16="http://schemas.microsoft.com/office/drawing/2014/main" val="4102906711"/>
                    </a:ext>
                  </a:extLst>
                </a:gridCol>
                <a:gridCol w="3065185">
                  <a:extLst>
                    <a:ext uri="{9D8B030D-6E8A-4147-A177-3AD203B41FA5}">
                      <a16:colId xmlns:a16="http://schemas.microsoft.com/office/drawing/2014/main" val="1332620769"/>
                    </a:ext>
                  </a:extLst>
                </a:gridCol>
                <a:gridCol w="2593298">
                  <a:extLst>
                    <a:ext uri="{9D8B030D-6E8A-4147-A177-3AD203B41FA5}">
                      <a16:colId xmlns:a16="http://schemas.microsoft.com/office/drawing/2014/main" val="3168240748"/>
                    </a:ext>
                  </a:extLst>
                </a:gridCol>
                <a:gridCol w="2503358">
                  <a:extLst>
                    <a:ext uri="{9D8B030D-6E8A-4147-A177-3AD203B41FA5}">
                      <a16:colId xmlns:a16="http://schemas.microsoft.com/office/drawing/2014/main" val="3671019718"/>
                    </a:ext>
                  </a:extLst>
                </a:gridCol>
                <a:gridCol w="2479537">
                  <a:extLst>
                    <a:ext uri="{9D8B030D-6E8A-4147-A177-3AD203B41FA5}">
                      <a16:colId xmlns:a16="http://schemas.microsoft.com/office/drawing/2014/main" val="3708025063"/>
                    </a:ext>
                  </a:extLst>
                </a:gridCol>
              </a:tblGrid>
              <a:tr h="3389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Methods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Limitation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146899"/>
                  </a:ext>
                </a:extLst>
              </a:tr>
              <a:tr h="1433695">
                <a:tc>
                  <a:txBody>
                    <a:bodyPr/>
                    <a:lstStyle/>
                    <a:p>
                      <a:r>
                        <a:rPr lang="en-GB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Müller et al. (2021)</a:t>
                      </a:r>
                      <a:r>
                        <a:rPr lang="en-IN" dirty="0"/>
                        <a:t> – </a:t>
                      </a:r>
                      <a:r>
                        <a:rPr lang="en-IN" i="1" dirty="0"/>
                        <a:t>Fundamentals for Automating Due Diligence Processes in Property Transactions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ML-based analysis of property documents for automated due diligence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Demonstrated automated information extraction from </a:t>
                      </a:r>
                      <a:r>
                        <a:rPr lang="en-IN" b="1" dirty="0"/>
                        <a:t>8,339 documents across 14 properties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mainly on property due-diligence document processing; does not provide RERA-based legal assistance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4610"/>
                  </a:ext>
                </a:extLst>
              </a:tr>
              <a:tr h="1207322">
                <a:tc>
                  <a:txBody>
                    <a:bodyPr/>
                    <a:lstStyle/>
                    <a:p>
                      <a:r>
                        <a:rPr lang="en-GB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Hendrycks et al. (2021)</a:t>
                      </a:r>
                      <a:r>
                        <a:rPr lang="en-IN" dirty="0"/>
                        <a:t> – </a:t>
                      </a:r>
                      <a:r>
                        <a:rPr lang="en-IN" i="1" dirty="0"/>
                        <a:t>CUAD: An Expert-Annotated NLP Dataset for Legal Contract Review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NLP/Transformer-based legal contract review and clause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Introduced </a:t>
                      </a:r>
                      <a:r>
                        <a:rPr lang="en-IN" b="1" dirty="0"/>
                        <a:t>13,000+ expert annotations</a:t>
                      </a:r>
                      <a:r>
                        <a:rPr lang="en-IN" dirty="0"/>
                        <a:t> for identifying important contract clauses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General legal contracts; not focused on Indian real-estate/RERA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708450"/>
                  </a:ext>
                </a:extLst>
              </a:tr>
              <a:tr h="1433695">
                <a:tc>
                  <a:txBody>
                    <a:bodyPr/>
                    <a:lstStyle/>
                    <a:p>
                      <a:r>
                        <a:rPr lang="en-GB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Lewis et al. (2020)</a:t>
                      </a:r>
                      <a:r>
                        <a:rPr lang="en-IN" dirty="0"/>
                        <a:t> – </a:t>
                      </a:r>
                      <a:r>
                        <a:rPr lang="en-IN" i="1" dirty="0"/>
                        <a:t>Retrieval-Augmented Generation for Knowledge-Intensive NLP Tasks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Retrieval-Augmented Generation (RAG)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Shows that combining retrieval with language generation can improve factual and knowledge-based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General-purpose RAG; not specifically designed for property due diligence or RERA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62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15EC13-6748-BAD4-C953-D2A3E4369998}"/>
              </a:ext>
            </a:extLst>
          </p:cNvPr>
          <p:cNvSpPr txBox="1"/>
          <p:nvPr/>
        </p:nvSpPr>
        <p:spPr>
          <a:xfrm>
            <a:off x="4128942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 dirty="0" err="1">
                <a:solidFill>
                  <a:srgbClr val="FF0000"/>
                </a:solidFill>
              </a:rPr>
              <a:t>ARedDS</a:t>
            </a:r>
            <a:r>
              <a:rPr lang="en-IN" b="1" dirty="0">
                <a:solidFill>
                  <a:srgbClr val="FF0000"/>
                </a:solidFill>
              </a:rPr>
              <a:t> - </a:t>
            </a:r>
            <a:r>
              <a:rPr lang="en-GB" b="1" dirty="0">
                <a:solidFill>
                  <a:srgbClr val="FF0000"/>
                </a:solidFill>
              </a:rPr>
              <a:t>Autonomous Real Estate Due Diligence System with RERA Law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AA17C-FCAD-A298-06DE-E306ACF48D6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3BEDBD5B-E67C-7B6B-7835-B458F355F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399A00-A386-A75A-5596-8DBF03012231}"/>
              </a:ext>
            </a:extLst>
          </p:cNvPr>
          <p:cNvSpPr txBox="1"/>
          <p:nvPr/>
        </p:nvSpPr>
        <p:spPr>
          <a:xfrm>
            <a:off x="487062" y="1651421"/>
            <a:ext cx="113682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Existing research shows that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AI can automate real-estate document analysis and due diligence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NLP techniques can be used to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identify important clauses in legal documents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RAG can provide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relevant information and evidence-based answers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from a legal knowledge 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However, these approaches are mostly studied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separately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, creating an opportunity for an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integrated RERA-focused real-estate due-diligence system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such as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ARedDS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7018"/>
            <a:ext cx="10624338" cy="4142989"/>
          </a:xfrm>
        </p:spPr>
        <p:txBody>
          <a:bodyPr/>
          <a:lstStyle/>
          <a:p>
            <a:pPr lvl="0"/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Dataset: </a:t>
            </a:r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Synthetic real-estate documents with predefined details and risk cases. </a:t>
            </a:r>
          </a:p>
          <a:p>
            <a:pPr lvl="0"/>
            <a:endParaRPr lang="en-IN" sz="24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Legal Knowledge Base: </a:t>
            </a:r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Authentic RERA Act, rules, regulations, and related legal documents. </a:t>
            </a:r>
          </a:p>
          <a:p>
            <a:pPr lvl="0"/>
            <a:endParaRPr lang="en-IN" sz="24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AI Techniques: </a:t>
            </a:r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OCR, NLP, NER, clause detection, risk assessment, and RAG. </a:t>
            </a:r>
          </a:p>
          <a:p>
            <a:pPr lvl="0"/>
            <a:endParaRPr lang="en-IN" sz="24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/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Expected Output: </a:t>
            </a:r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Extracted information, identified risks, RERA-based explanations, and a due-diligence report.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7675AB-6528-C6E1-1298-8B4DC0FBA428}"/>
              </a:ext>
            </a:extLst>
          </p:cNvPr>
          <p:cNvSpPr txBox="1"/>
          <p:nvPr/>
        </p:nvSpPr>
        <p:spPr>
          <a:xfrm>
            <a:off x="4119514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 dirty="0" err="1">
                <a:solidFill>
                  <a:srgbClr val="FF0000"/>
                </a:solidFill>
              </a:rPr>
              <a:t>ARedDS</a:t>
            </a:r>
            <a:r>
              <a:rPr lang="en-IN" b="1" dirty="0">
                <a:solidFill>
                  <a:srgbClr val="FF0000"/>
                </a:solidFill>
              </a:rPr>
              <a:t> - </a:t>
            </a:r>
            <a:r>
              <a:rPr lang="en-GB" b="1" dirty="0">
                <a:solidFill>
                  <a:srgbClr val="FF0000"/>
                </a:solidFill>
              </a:rPr>
              <a:t>Autonomous Real Estate Due Diligence System with RERA Law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547CF6-2DB6-043B-0D57-69B3AD0899A0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B581111-F34F-9970-D173-3E257F943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01665B-C1F1-9A39-E419-0AFCC4BE0EFD}"/>
              </a:ext>
            </a:extLst>
          </p:cNvPr>
          <p:cNvSpPr txBox="1"/>
          <p:nvPr/>
        </p:nvSpPr>
        <p:spPr>
          <a:xfrm>
            <a:off x="4072380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 dirty="0" err="1">
                <a:solidFill>
                  <a:srgbClr val="FF0000"/>
                </a:solidFill>
              </a:rPr>
              <a:t>ARedDS</a:t>
            </a:r>
            <a:r>
              <a:rPr lang="en-IN" b="1" dirty="0">
                <a:solidFill>
                  <a:srgbClr val="FF0000"/>
                </a:solidFill>
              </a:rPr>
              <a:t> - </a:t>
            </a:r>
            <a:r>
              <a:rPr lang="en-GB" b="1" dirty="0">
                <a:solidFill>
                  <a:srgbClr val="FF0000"/>
                </a:solidFill>
              </a:rPr>
              <a:t>Autonomous Real Estate Due Diligence System with RERA Law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63B2D-7B75-C470-2E06-DBCE9914101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E4316486-4CBB-6223-6F62-CBC22688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C88076-CF35-CE40-0C31-32E603866EE0}"/>
              </a:ext>
            </a:extLst>
          </p:cNvPr>
          <p:cNvSpPr txBox="1"/>
          <p:nvPr/>
        </p:nvSpPr>
        <p:spPr>
          <a:xfrm>
            <a:off x="1004341" y="1274632"/>
            <a:ext cx="875425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Document Upload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Upload property documents to the system.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Text Extraction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Extract text from PDF or scanned documents.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Information Extraction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Extract important property details from the documents.</a:t>
            </a:r>
          </a:p>
          <a:p>
            <a:pPr marL="342900" lvl="0" indent="-342900">
              <a:buFont typeface="+mj-lt"/>
              <a:buAutoNum type="arabicPeriod" startAt="4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Clause Detection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Identify important clauses such as possession, payment, and cancellation. </a:t>
            </a:r>
          </a:p>
          <a:p>
            <a:pPr marL="342900" lvl="0" indent="-342900">
              <a:buFont typeface="+mj-lt"/>
              <a:buAutoNum type="arabicPeriod" startAt="4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Risk Assessment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Detect missing details, inconsistencies, and possible risks. </a:t>
            </a:r>
          </a:p>
          <a:p>
            <a:pPr marL="342900" lvl="0" indent="-342900">
              <a:buFont typeface="+mj-lt"/>
              <a:buAutoNum type="arabicPeriod" startAt="4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RERA Assistant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Answer property-related questions using RERA documents. </a:t>
            </a:r>
          </a:p>
          <a:p>
            <a:pPr marL="342900" lvl="0" indent="-342900">
              <a:buFont typeface="+mj-lt"/>
              <a:buAutoNum type="arabicPeriod" startAt="4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Legal Evidence Mapping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Connect detected risks with relevant RERA provisions.</a:t>
            </a:r>
          </a:p>
          <a:p>
            <a:pPr marL="342900" lvl="0" indent="-342900">
              <a:buFont typeface="+mj-lt"/>
              <a:buAutoNum type="arabicPeriod" startAt="4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Report Generation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Generate a final property due-diligence report. 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Accurate document information extraction. </a:t>
            </a: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Important clauses are identified. </a:t>
            </a: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Missing and inconsistent details are detected. </a:t>
            </a: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Potential property risks are highlighted. </a:t>
            </a: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Relevant RERA provisions are provided. </a:t>
            </a: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Evidence-based legal explanations are generated. </a:t>
            </a:r>
          </a:p>
          <a:p>
            <a:pPr lvl="0"/>
            <a:r>
              <a:rPr lang="en-IN" sz="24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 clear due-diligence report is generated.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Expected Outcomes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CAE54CC-2EB2-26E6-12F9-36ECBF945EDD}"/>
              </a:ext>
            </a:extLst>
          </p:cNvPr>
          <p:cNvSpPr txBox="1"/>
          <p:nvPr/>
        </p:nvSpPr>
        <p:spPr>
          <a:xfrm>
            <a:off x="4091234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 dirty="0" err="1">
                <a:solidFill>
                  <a:srgbClr val="FF0000"/>
                </a:solidFill>
              </a:rPr>
              <a:t>ARedDS</a:t>
            </a:r>
            <a:r>
              <a:rPr lang="en-IN" b="1" dirty="0">
                <a:solidFill>
                  <a:srgbClr val="FF0000"/>
                </a:solidFill>
              </a:rPr>
              <a:t> - </a:t>
            </a:r>
            <a:r>
              <a:rPr lang="en-GB" b="1" dirty="0">
                <a:solidFill>
                  <a:srgbClr val="FF0000"/>
                </a:solidFill>
              </a:rPr>
              <a:t>Autonomous Real Estate Due Diligence System with RERA Law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DD8723-FBD3-689C-E246-39F806E767DC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8222288F-2592-2931-9AB9-460C9363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163BF-833D-DA76-2244-D88C9F0F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F8C74C-04E6-9081-616D-20D3B3BB4C66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75389018-7E23-78D5-73D7-33BA597BE6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+mn-lt"/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A91A47-7C0D-2B99-9CFE-EDDAC948DB72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9FC7A2-5465-B632-2AD4-713A1E0CED68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ACEB5-C24B-6FDB-49E2-1F2F32BF93BE}"/>
              </a:ext>
            </a:extLst>
          </p:cNvPr>
          <p:cNvSpPr txBox="1"/>
          <p:nvPr/>
        </p:nvSpPr>
        <p:spPr>
          <a:xfrm>
            <a:off x="334616" y="163154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fr-FR" sz="3600" b="1" dirty="0">
                <a:solidFill>
                  <a:srgbClr val="FF0000"/>
                </a:solidFill>
              </a:rPr>
              <a:t>Intelligent Document Classification &amp; Information Extraction System</a:t>
            </a:r>
          </a:p>
          <a:p>
            <a:pPr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Presented By 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DHANUSHKIRAN 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REC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01677A-8288-894C-7705-15CA957B0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66921"/>
              </p:ext>
            </p:extLst>
          </p:nvPr>
        </p:nvGraphicFramePr>
        <p:xfrm>
          <a:off x="-47290" y="5636302"/>
          <a:ext cx="12239216" cy="31297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392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360C010-1BB0-2755-07A1-73F558864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353" y="5948364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A88BC-A345-E135-53A0-F93DA83AE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669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BCA3F-C98C-2857-21B4-86F306CC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0A4732-885F-160B-7583-4C44BB9F60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1091558" cy="4142989"/>
          </a:xfrm>
        </p:spPr>
        <p:txBody>
          <a:bodyPr/>
          <a:lstStyle/>
          <a:p>
            <a:pPr lvl="0"/>
            <a:r>
              <a:rPr lang="en-IN" sz="2400" b="0" dirty="0">
                <a:latin typeface="+mn-lt"/>
              </a:rPr>
              <a:t>Many organizations receive and process large numbers of invoices every day.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Manually checking invoices takes more time and can cause errors.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OCR, NLP, and Machine Learning can automatically read and understand invoice documents.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This project classifies invoices and extracts important information automatically, making the process faster and easier.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453B2-9C9E-0D56-9C12-38A2CE122C6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934AB1-D615-840F-A039-9F23F71DEA0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C7D4A71-0B1B-0187-219C-9BDDF8E874D3}"/>
              </a:ext>
            </a:extLst>
          </p:cNvPr>
          <p:cNvSpPr txBox="1"/>
          <p:nvPr/>
        </p:nvSpPr>
        <p:spPr>
          <a:xfrm>
            <a:off x="3912125" y="57036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b="1" dirty="0">
                <a:solidFill>
                  <a:srgbClr val="FF0000"/>
                </a:solidFill>
              </a:rPr>
              <a:t>Intelligent Document Classification &amp; Information Extraction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3436A0-F18F-0706-7D64-E52F6996616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A22C4674-0CC5-66FB-A0A2-33C6C47E3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65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368F-7440-757C-CA8F-0CD21A4EC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D0188D-8D72-0243-A007-2EAE987EEF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latin typeface="+mn-lt"/>
              </a:rPr>
              <a:t>To automatically read invoice documents using OCR technology.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To classify documents using Machine Learning techniques.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To extract important invoice information such as invoice number, date, company name, and total amount.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To reduce manual work and errors and make invoice processing faster.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B3D4A-E995-D400-1959-16D6CF3EB4F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F54B9E-50D9-3876-7342-E106670893D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DACC8E-DAC4-862D-488F-B85A9F928EBD}"/>
              </a:ext>
            </a:extLst>
          </p:cNvPr>
          <p:cNvSpPr txBox="1"/>
          <p:nvPr/>
        </p:nvSpPr>
        <p:spPr>
          <a:xfrm>
            <a:off x="3912125" y="57036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b="1" dirty="0">
                <a:solidFill>
                  <a:srgbClr val="FF0000"/>
                </a:solidFill>
              </a:rPr>
              <a:t>Intelligent Document Classification &amp; Information Extraction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6E628D-92A6-86FB-9FDC-C5EF8B4307DF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0F4189F9-D07E-21AB-E62B-A9F6E2299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27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D3AEB-3955-EE64-8EBB-0EAFD5E6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BBE93A-EBD9-E187-C791-81220CEA79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latin typeface="+mn-lt"/>
              </a:rPr>
              <a:t>To process invoice PDF and image files automatically.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To use OCR and NLP to read and understand invoice content.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To extract important details like invoice number, date, company name, and amount.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To provide a simple dashboard for viewing, searching, and managing processed invoices.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6083C-3B12-0557-835B-CE3874B6496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9EA5B3-77BC-C7CB-AEBF-83615979B71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32E898D-4855-2856-94C2-3DAD5A15839D}"/>
              </a:ext>
            </a:extLst>
          </p:cNvPr>
          <p:cNvSpPr txBox="1"/>
          <p:nvPr/>
        </p:nvSpPr>
        <p:spPr>
          <a:xfrm>
            <a:off x="4081808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b="1" dirty="0">
                <a:solidFill>
                  <a:srgbClr val="FF0000"/>
                </a:solidFill>
              </a:rPr>
              <a:t>Intelligent Document Classification &amp; Information Extraction System</a:t>
            </a:r>
          </a:p>
        </p:txBody>
      </p:sp>
      <p:sp>
        <p:nvSpPr>
          <p:cNvPr id="7" name="AutoShape 2" descr="LTIMindtree Logo">
            <a:extLst>
              <a:ext uri="{FF2B5EF4-FFF2-40B4-BE49-F238E27FC236}">
                <a16:creationId xmlns:a16="http://schemas.microsoft.com/office/drawing/2014/main" id="{AF131034-8904-9F3A-055B-B503F8F3D2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BE6D5-E658-3BF5-F2EC-E5E9867C4D9F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30" name="Picture 6" descr="LTM Limited (Formerly LTIMindtree Limited)">
            <a:extLst>
              <a:ext uri="{FF2B5EF4-FFF2-40B4-BE49-F238E27FC236}">
                <a16:creationId xmlns:a16="http://schemas.microsoft.com/office/drawing/2014/main" id="{F8755398-D8D1-468E-D538-814473F69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41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CDB9-6226-39AD-C8C5-072D688B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43AE4E-F9FE-535F-6F7A-AECE013BDD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7018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latin typeface="+mn-lt"/>
              </a:rPr>
              <a:t>The system uses SROIE and Invoice NER datasets for training and testing.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Tesseract OCR is used to extract text from scanned invoices.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Machine Learning and NLP techniques are used for document classification and information extraction. </a:t>
            </a:r>
          </a:p>
          <a:p>
            <a:pPr lvl="0"/>
            <a:endParaRPr lang="en-IN" sz="2400" b="0" dirty="0">
              <a:latin typeface="+mn-lt"/>
            </a:endParaRPr>
          </a:p>
          <a:p>
            <a:pPr lvl="0"/>
            <a:r>
              <a:rPr lang="en-IN" sz="2400" b="0" dirty="0">
                <a:latin typeface="+mn-lt"/>
              </a:rPr>
              <a:t>The system can be developed using Python, </a:t>
            </a:r>
            <a:r>
              <a:rPr lang="en-IN" sz="2400" b="0" dirty="0" err="1">
                <a:latin typeface="+mn-lt"/>
              </a:rPr>
              <a:t>Streamlit</a:t>
            </a:r>
            <a:r>
              <a:rPr lang="en-IN" sz="2400" b="0" dirty="0">
                <a:latin typeface="+mn-lt"/>
              </a:rPr>
              <a:t>, </a:t>
            </a:r>
            <a:r>
              <a:rPr lang="en-IN" sz="2400" b="0" dirty="0" err="1">
                <a:latin typeface="+mn-lt"/>
              </a:rPr>
              <a:t>FastAPI</a:t>
            </a:r>
            <a:r>
              <a:rPr lang="en-IN" sz="2400" b="0" dirty="0">
                <a:latin typeface="+mn-lt"/>
              </a:rPr>
              <a:t>, and SQLite.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5414F-7983-FB36-4534-AFFBFA98E48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0DCB49-6CD3-3069-70FD-1AE2CD9D10E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AFE4493-5F9A-E3C0-5C6E-7C88CF0AE6FC}"/>
              </a:ext>
            </a:extLst>
          </p:cNvPr>
          <p:cNvSpPr txBox="1"/>
          <p:nvPr/>
        </p:nvSpPr>
        <p:spPr>
          <a:xfrm>
            <a:off x="4119514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b="1" dirty="0">
                <a:solidFill>
                  <a:srgbClr val="FF0000"/>
                </a:solidFill>
              </a:rPr>
              <a:t>Intelligent Document Classification &amp; Information Extraction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10B6A-4A0F-96C6-D026-E5CADECC28D6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096796AD-1417-E437-6BC0-876AB2CEB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76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F6554-846E-0333-C70A-73E3836F1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A0777-8319-DA56-517B-13EC281F368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AC2C7E-D4D7-E9CD-2340-FADDDC81DBE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1E404C-24C9-198A-760E-B9FAAF59A420}"/>
              </a:ext>
            </a:extLst>
          </p:cNvPr>
          <p:cNvSpPr txBox="1"/>
          <p:nvPr/>
        </p:nvSpPr>
        <p:spPr>
          <a:xfrm>
            <a:off x="4072380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b="1" dirty="0">
                <a:solidFill>
                  <a:srgbClr val="FF0000"/>
                </a:solidFill>
              </a:rPr>
              <a:t>Intelligent Document Classification &amp; Information Extraction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9E54B7-0B1A-96D6-9C71-3F941B06152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AD981B30-38C4-B8E2-6916-41F12FCB3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265294-95AD-8DD1-911A-B490B1ABAFA5}"/>
              </a:ext>
            </a:extLst>
          </p:cNvPr>
          <p:cNvSpPr txBox="1"/>
          <p:nvPr/>
        </p:nvSpPr>
        <p:spPr>
          <a:xfrm>
            <a:off x="1004341" y="1274632"/>
            <a:ext cx="87542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Document Upload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Upload PDF and image invoices.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OCR Text Extraction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Extract text using Tesseract OCR.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Text Preprocessing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Clean and normalize extracted text.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Document Classification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Classify documents using Machine Learning.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Named Entity Recognition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Identify important invoice entities.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Invoice Information Extraction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Extract invoice number, date, company, and amount.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Data Validation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Validate the extracted information.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Database Management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Store processed document details.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Dashboard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View and manage processed documents.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REST API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 – Provide system functions through API.</a:t>
            </a:r>
          </a:p>
        </p:txBody>
      </p:sp>
    </p:spTree>
    <p:extLst>
      <p:ext uri="{BB962C8B-B14F-4D97-AF65-F5344CB8AC3E}">
        <p14:creationId xmlns:p14="http://schemas.microsoft.com/office/powerpoint/2010/main" val="403509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0C34-F17E-9125-0F17-D52D5CEC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8C0EB7-5427-E3D4-94DE-FB37E44539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lvl="0"/>
            <a:r>
              <a:rPr lang="en-IN" sz="2400" dirty="0">
                <a:latin typeface="+mn-lt"/>
              </a:rPr>
              <a:t>Automatic Document Processing – </a:t>
            </a:r>
            <a:r>
              <a:rPr lang="en-IN" sz="2400" b="0" dirty="0">
                <a:latin typeface="+mn-lt"/>
              </a:rPr>
              <a:t>Process invoice files </a:t>
            </a:r>
            <a:r>
              <a:rPr lang="en-IN" sz="2400" dirty="0">
                <a:latin typeface="+mn-lt"/>
              </a:rPr>
              <a:t>automatically. </a:t>
            </a:r>
          </a:p>
          <a:p>
            <a:pPr lvl="0"/>
            <a:r>
              <a:rPr lang="en-IN" sz="2400" dirty="0">
                <a:latin typeface="+mn-lt"/>
              </a:rPr>
              <a:t>Accurate Text Extraction – </a:t>
            </a:r>
            <a:r>
              <a:rPr lang="en-IN" sz="2400" b="0" dirty="0">
                <a:latin typeface="+mn-lt"/>
              </a:rPr>
              <a:t>Extract text from scanned invoices. </a:t>
            </a:r>
          </a:p>
          <a:p>
            <a:pPr lvl="0"/>
            <a:r>
              <a:rPr lang="en-IN" sz="2400" dirty="0">
                <a:latin typeface="+mn-lt"/>
              </a:rPr>
              <a:t>Document Classification – </a:t>
            </a:r>
            <a:r>
              <a:rPr lang="en-IN" sz="2400" b="0" dirty="0">
                <a:latin typeface="+mn-lt"/>
              </a:rPr>
              <a:t>Identify invoice documents automatically. </a:t>
            </a:r>
          </a:p>
          <a:p>
            <a:pPr lvl="0"/>
            <a:r>
              <a:rPr lang="en-IN" sz="2400" dirty="0">
                <a:latin typeface="+mn-lt"/>
              </a:rPr>
              <a:t>Information Extraction – </a:t>
            </a:r>
            <a:r>
              <a:rPr lang="en-IN" sz="2400" b="0" dirty="0">
                <a:latin typeface="+mn-lt"/>
              </a:rPr>
              <a:t>Extract important invoice details.</a:t>
            </a:r>
            <a:r>
              <a:rPr lang="en-IN" sz="2400" dirty="0">
                <a:latin typeface="+mn-lt"/>
              </a:rPr>
              <a:t> </a:t>
            </a:r>
          </a:p>
          <a:p>
            <a:pPr lvl="0"/>
            <a:r>
              <a:rPr lang="en-IN" sz="2400" dirty="0">
                <a:latin typeface="+mn-lt"/>
              </a:rPr>
              <a:t>Reduced Manual Work – </a:t>
            </a:r>
            <a:r>
              <a:rPr lang="en-IN" sz="2400" b="0" dirty="0">
                <a:latin typeface="+mn-lt"/>
              </a:rPr>
              <a:t>Reduce time and human errors.</a:t>
            </a:r>
            <a:r>
              <a:rPr lang="en-IN" sz="2400" dirty="0">
                <a:latin typeface="+mn-lt"/>
              </a:rPr>
              <a:t> </a:t>
            </a:r>
          </a:p>
          <a:p>
            <a:pPr lvl="0"/>
            <a:r>
              <a:rPr lang="en-IN" sz="2400" dirty="0">
                <a:latin typeface="+mn-lt"/>
              </a:rPr>
              <a:t>Easy Document Management – </a:t>
            </a:r>
            <a:r>
              <a:rPr lang="en-IN" sz="2400" b="0" dirty="0">
                <a:latin typeface="+mn-lt"/>
              </a:rPr>
              <a:t>Search and view processed invoices. </a:t>
            </a:r>
          </a:p>
          <a:p>
            <a:pPr lvl="0"/>
            <a:r>
              <a:rPr lang="en-IN" sz="2400" dirty="0">
                <a:latin typeface="+mn-lt"/>
              </a:rPr>
              <a:t>User-Friendly Dashboard – </a:t>
            </a:r>
            <a:r>
              <a:rPr lang="en-IN" sz="2400" b="0" dirty="0">
                <a:latin typeface="+mn-lt"/>
              </a:rPr>
              <a:t>Display results clearly.</a:t>
            </a:r>
          </a:p>
          <a:p>
            <a:pPr lvl="0"/>
            <a:endParaRPr lang="en-IN" sz="2400" b="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AB211-A38E-A644-223F-A0717EF9349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Expected Outcomes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9065A4-F26B-6F90-3348-7B9AD37D71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F4F4E92-1A47-8954-B935-DA5B8EEBC631}"/>
              </a:ext>
            </a:extLst>
          </p:cNvPr>
          <p:cNvSpPr txBox="1"/>
          <p:nvPr/>
        </p:nvSpPr>
        <p:spPr>
          <a:xfrm>
            <a:off x="4091234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b="1" dirty="0">
                <a:solidFill>
                  <a:srgbClr val="FF0000"/>
                </a:solidFill>
              </a:rPr>
              <a:t>Intelligent Document Classification &amp; Information Extraction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8549C4-F674-2E53-A7D2-6E78069FBC6A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AB5ABB6-9295-7A73-9114-E5D943C5B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140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1143</Words>
  <Application>Microsoft Office PowerPoint</Application>
  <PresentationFormat>Widescreen</PresentationFormat>
  <Paragraphs>176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Dhanushkiran R</cp:lastModifiedBy>
  <cp:revision>35</cp:revision>
  <dcterms:created xsi:type="dcterms:W3CDTF">2024-05-13T10:33:11Z</dcterms:created>
  <dcterms:modified xsi:type="dcterms:W3CDTF">2026-09-10T06:35:27Z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